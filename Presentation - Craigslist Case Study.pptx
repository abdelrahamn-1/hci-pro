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Pro Light" charset="1" panose="02040302050405020303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68762" y="662691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E1E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HCI Research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270958"/>
            <a:chOff x="0" y="0"/>
            <a:chExt cx="9182100" cy="436127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71450"/>
              <a:ext cx="91821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</a:pPr>
              <a:r>
                <a:rPr lang="en-US" sz="9500">
                  <a:solidFill>
                    <a:srgbClr val="E1E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Craigslist Case Study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792107"/>
              <a:ext cx="9172670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E1E5F9"/>
                  </a:solidFill>
                  <a:latin typeface="DM Sans"/>
                  <a:ea typeface="DM Sans"/>
                  <a:cs typeface="DM Sans"/>
                  <a:sym typeface="DM Sans"/>
                </a:rPr>
                <a:t>Analyzing design improvements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6249670"/>
            <a:ext cx="9105315" cy="3456482"/>
            <a:chOff x="0" y="0"/>
            <a:chExt cx="12140420" cy="460864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04044"/>
              <a:ext cx="12140420" cy="3904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seif mohamed ahamed dabour</a:t>
              </a:r>
            </a:p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Khaled fawzy Mahmoud El-Gazzar</a:t>
              </a:r>
            </a:p>
            <a:p>
              <a:pPr algn="l" marL="532507" indent="-266253" lvl="1">
                <a:lnSpc>
                  <a:spcPts val="3453"/>
                </a:lnSpc>
                <a:buFont typeface="Arial"/>
                <a:buChar char="•"/>
              </a:pPr>
              <a:r>
                <a:rPr lang="en-US" b="true" sz="2466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Abdul Rahman Al-Sayed Raslan</a:t>
              </a:r>
            </a:p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Eslam Osama Ebrahim Elfadaly</a:t>
              </a:r>
            </a:p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Omar Mohamed Mansour  Wahdan</a:t>
              </a:r>
            </a:p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Abdelrahman Bder Abdelmotalleb Mohamed Al-Belehe</a:t>
              </a:r>
            </a:p>
            <a:p>
              <a:pPr algn="l" marL="510172" indent="-255086" lvl="1">
                <a:lnSpc>
                  <a:spcPts val="3308"/>
                </a:lnSpc>
                <a:buFont typeface="Arial"/>
                <a:buChar char="•"/>
              </a:pPr>
              <a:r>
                <a:rPr lang="en-US" b="true" sz="2363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Abdelrahman Aiman Abdelglil Mostafa Elbarawy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113030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98146" y="5048250"/>
            <a:ext cx="649352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E1E5F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https://craigslist.org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1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747081"/>
            <a:chOff x="0" y="0"/>
            <a:chExt cx="11099800" cy="4996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E1E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Human–Computer Interaction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1E5F9"/>
                  </a:solidFill>
                  <a:latin typeface="DM Sans"/>
                  <a:ea typeface="DM Sans"/>
                  <a:cs typeface="DM Sans"/>
                  <a:sym typeface="DM Sans"/>
                </a:rPr>
                <a:t>Human–Computer Interaction (HCI) is the study of how users interact with computer systems, focusing on enhancing usability and user experience by minimizing effort and errors.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4B36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57450"/>
            <a:ext cx="7191375" cy="1612850"/>
            <a:chOff x="0" y="0"/>
            <a:chExt cx="9588500" cy="21504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Craigslist Cairo serves as the Egyptian local version of Craigslist for users.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LOCAL VERSION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5165675"/>
            <a:ext cx="7191375" cy="1612850"/>
            <a:chOff x="0" y="0"/>
            <a:chExt cx="9588500" cy="21504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Users can easily buy and sell various items through the website’s listings.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BUYING &amp; SELLING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7829550"/>
            <a:ext cx="7191375" cy="1612850"/>
            <a:chOff x="0" y="0"/>
            <a:chExt cx="9588500" cy="21504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offers services and community posts to enhance local connections.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COMMUNITY SERVICES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2457450"/>
            <a:ext cx="7191375" cy="1612850"/>
            <a:chOff x="0" y="0"/>
            <a:chExt cx="9588500" cy="21504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This platform provides a local online classifieds service for people in Egypt.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ONLINE PLATFORM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65675"/>
            <a:ext cx="7191375" cy="1612850"/>
            <a:chOff x="0" y="0"/>
            <a:chExt cx="9588500" cy="21504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Craigslist Cairo includes listings for jobs and housing opportunities in the area.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JOBS &amp; HOUSING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7829550"/>
            <a:ext cx="7191375" cy="1612850"/>
            <a:chOff x="0" y="0"/>
            <a:chExt cx="9588500" cy="21504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183362"/>
              <a:ext cx="95885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6E0F7"/>
                  </a:solidFill>
                  <a:latin typeface="DM Sans"/>
                  <a:ea typeface="DM Sans"/>
                  <a:cs typeface="DM Sans"/>
                  <a:sym typeface="DM Sans"/>
                </a:rPr>
                <a:t>It focuses on connecting residents and fostering engagement within the city of Cairo.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95885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E6E0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CONNECTING PEOPLE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733425"/>
            <a:ext cx="1695450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E6E0F7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About Craigslist Cairo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1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169" y="6219151"/>
            <a:ext cx="7238715" cy="3320760"/>
          </a:xfrm>
          <a:custGeom>
            <a:avLst/>
            <a:gdLst/>
            <a:ahLst/>
            <a:cxnLst/>
            <a:rect r="r" b="b" t="t" l="l"/>
            <a:pathLst>
              <a:path h="3320760" w="7238715">
                <a:moveTo>
                  <a:pt x="0" y="0"/>
                </a:moveTo>
                <a:lnTo>
                  <a:pt x="7238715" y="0"/>
                </a:lnTo>
                <a:lnTo>
                  <a:pt x="7238715" y="3320760"/>
                </a:lnTo>
                <a:lnTo>
                  <a:pt x="0" y="3320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1169" y="2457450"/>
            <a:ext cx="7238715" cy="3465155"/>
          </a:xfrm>
          <a:custGeom>
            <a:avLst/>
            <a:gdLst/>
            <a:ahLst/>
            <a:cxnLst/>
            <a:rect r="r" b="b" t="t" l="l"/>
            <a:pathLst>
              <a:path h="3465155" w="7238715">
                <a:moveTo>
                  <a:pt x="0" y="0"/>
                </a:moveTo>
                <a:lnTo>
                  <a:pt x="7238715" y="0"/>
                </a:lnTo>
                <a:lnTo>
                  <a:pt x="7238715" y="3465155"/>
                </a:lnTo>
                <a:lnTo>
                  <a:pt x="0" y="3465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48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11169" y="193672"/>
            <a:ext cx="5753100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E1E5F9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Before vs After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2669785"/>
            <a:ext cx="7191375" cy="227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3"/>
              </a:lnSpc>
            </a:pP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The old Craigslist interface used a </a:t>
            </a:r>
            <a:r>
              <a:rPr lang="en-US" b="true" sz="2573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text-heavy layout</a:t>
            </a: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, making it challenging for users to quickly identify information. The new design leverages </a:t>
            </a:r>
            <a:r>
              <a:rPr lang="en-US" b="true" sz="2573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card layouts</a:t>
            </a: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 for better organization and clarity.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707125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LAYOUT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712067"/>
            <a:ext cx="7191375" cy="227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3"/>
              </a:lnSpc>
            </a:pP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Users previously faced </a:t>
            </a:r>
            <a:r>
              <a:rPr lang="en-US" b="true" sz="2573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complex navigation</a:t>
            </a: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 options that were overwhelming. The redesigned site adopts a </a:t>
            </a:r>
            <a:r>
              <a:rPr lang="en-US" b="true" sz="2573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simplified navigation structure</a:t>
            </a:r>
            <a:r>
              <a:rPr lang="en-US" sz="2573">
                <a:solidFill>
                  <a:srgbClr val="E1E5F9"/>
                </a:solidFill>
                <a:latin typeface="DM Sans"/>
                <a:ea typeface="DM Sans"/>
                <a:cs typeface="DM Sans"/>
                <a:sym typeface="DM Sans"/>
              </a:rPr>
              <a:t>, allowing users to find what they need with ease and efficiency.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5483820"/>
            <a:ext cx="719137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E1E5F9"/>
                </a:solidFill>
                <a:latin typeface="DM Sans Bold"/>
                <a:ea typeface="DM Sans Bold"/>
                <a:cs typeface="DM Sans Bold"/>
                <a:sym typeface="DM Sans Bold"/>
              </a:rPr>
              <a:t>NAVIGATION SIMPLICITY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3786" y="242025"/>
            <a:ext cx="5503557" cy="6318491"/>
            <a:chOff x="0" y="0"/>
            <a:chExt cx="1990439" cy="22851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0439" cy="2285172"/>
            </a:xfrm>
            <a:custGeom>
              <a:avLst/>
              <a:gdLst/>
              <a:ahLst/>
              <a:cxnLst/>
              <a:rect r="r" b="b" t="t" l="l"/>
              <a:pathLst>
                <a:path h="2285172" w="1990439">
                  <a:moveTo>
                    <a:pt x="1990439" y="0"/>
                  </a:moveTo>
                  <a:lnTo>
                    <a:pt x="0" y="0"/>
                  </a:lnTo>
                  <a:lnTo>
                    <a:pt x="0" y="2285172"/>
                  </a:lnTo>
                  <a:lnTo>
                    <a:pt x="1990439" y="2285172"/>
                  </a:lnTo>
                  <a:close/>
                </a:path>
              </a:pathLst>
            </a:custGeom>
            <a:blipFill>
              <a:blip r:embed="rId2"/>
              <a:stretch>
                <a:fillRect l="0" t="-130" r="0" b="-13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05404" y="6708645"/>
            <a:ext cx="7182596" cy="2549655"/>
          </a:xfrm>
          <a:custGeom>
            <a:avLst/>
            <a:gdLst/>
            <a:ahLst/>
            <a:cxnLst/>
            <a:rect r="r" b="b" t="t" l="l"/>
            <a:pathLst>
              <a:path h="2549655" w="7182596">
                <a:moveTo>
                  <a:pt x="0" y="0"/>
                </a:moveTo>
                <a:lnTo>
                  <a:pt x="7182596" y="0"/>
                </a:lnTo>
                <a:lnTo>
                  <a:pt x="7182596" y="2549655"/>
                </a:lnTo>
                <a:lnTo>
                  <a:pt x="0" y="2549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1" t="-93" r="0" b="-134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5668" y="242025"/>
            <a:ext cx="774911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7583"/>
              </a:lnSpc>
              <a:spcBef>
                <a:spcPct val="0"/>
              </a:spcBef>
            </a:pPr>
            <a:r>
              <a:rPr lang="en-US" b="true" sz="63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63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enu of categories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5668" y="2540318"/>
            <a:ext cx="8320449" cy="702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83768" indent="-391884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old design: Too many options and long text → confusing and slow decisions, hard to use on mobile, better for expert users.</a:t>
            </a:r>
          </a:p>
          <a:p>
            <a:pPr algn="ctr">
              <a:lnSpc>
                <a:spcPts val="5082"/>
              </a:lnSpc>
            </a:pPr>
          </a:p>
          <a:p>
            <a:pPr algn="ctr">
              <a:lnSpc>
                <a:spcPts val="5082"/>
              </a:lnSpc>
            </a:pPr>
          </a:p>
          <a:p>
            <a:pPr algn="ctr" rtl="true" marL="783768" indent="-391884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 design</a:t>
            </a:r>
            <a:r>
              <a:rPr lang="en-US" sz="36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Fewer options in clear cards → faster understanding, relies on visual recognition, easy</a:t>
            </a:r>
            <a:r>
              <a:rPr lang="en-US" sz="36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on all devices</a:t>
            </a:r>
            <a:r>
              <a:rPr lang="ar-EG" sz="36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.</a:t>
            </a:r>
          </a:p>
          <a:p>
            <a:pPr algn="ctr" rtl="true">
              <a:lnSpc>
                <a:spcPts val="508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1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8542" y="0"/>
            <a:ext cx="5489458" cy="3039185"/>
          </a:xfrm>
          <a:custGeom>
            <a:avLst/>
            <a:gdLst/>
            <a:ahLst/>
            <a:cxnLst/>
            <a:rect r="r" b="b" t="t" l="l"/>
            <a:pathLst>
              <a:path h="3039185" w="5489458">
                <a:moveTo>
                  <a:pt x="0" y="0"/>
                </a:moveTo>
                <a:lnTo>
                  <a:pt x="5489458" y="0"/>
                </a:lnTo>
                <a:lnTo>
                  <a:pt x="5489458" y="3039185"/>
                </a:lnTo>
                <a:lnTo>
                  <a:pt x="0" y="3039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2" t="0" r="-79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98542" y="2991754"/>
            <a:ext cx="5489458" cy="3490310"/>
          </a:xfrm>
          <a:custGeom>
            <a:avLst/>
            <a:gdLst/>
            <a:ahLst/>
            <a:cxnLst/>
            <a:rect r="r" b="b" t="t" l="l"/>
            <a:pathLst>
              <a:path h="3490310" w="5489458">
                <a:moveTo>
                  <a:pt x="0" y="0"/>
                </a:moveTo>
                <a:lnTo>
                  <a:pt x="5489458" y="0"/>
                </a:lnTo>
                <a:lnTo>
                  <a:pt x="5489458" y="3490311"/>
                </a:lnTo>
                <a:lnTo>
                  <a:pt x="0" y="3490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79" r="0" b="-317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5891" y="6482065"/>
            <a:ext cx="3972109" cy="3928522"/>
          </a:xfrm>
          <a:custGeom>
            <a:avLst/>
            <a:gdLst/>
            <a:ahLst/>
            <a:cxnLst/>
            <a:rect r="r" b="b" t="t" l="l"/>
            <a:pathLst>
              <a:path h="3928522" w="3972109">
                <a:moveTo>
                  <a:pt x="0" y="0"/>
                </a:moveTo>
                <a:lnTo>
                  <a:pt x="3972109" y="0"/>
                </a:lnTo>
                <a:lnTo>
                  <a:pt x="3972109" y="3928521"/>
                </a:lnTo>
                <a:lnTo>
                  <a:pt x="0" y="3928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" t="-3397" r="-457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7187" y="2582179"/>
            <a:ext cx="12441355" cy="719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old design: Step-by-step flow with plain text → slower, requires more</a:t>
            </a: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effort, functional but gives a poor user experience</a:t>
            </a:r>
            <a:r>
              <a:rPr lang="ar-EG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.</a:t>
            </a:r>
          </a:p>
          <a:p>
            <a:pPr algn="l" rtl="true" marL="712470" indent="-356235" lvl="1">
              <a:lnSpc>
                <a:spcPts val="825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 design</a:t>
            </a: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One-page layout with visual guidance → faster, clearer, and easier to use, with a modern and user-friendly design</a:t>
            </a:r>
            <a:r>
              <a:rPr lang="ar-EG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.</a:t>
            </a:r>
          </a:p>
          <a:p>
            <a:pPr algn="l" rtl="true">
              <a:lnSpc>
                <a:spcPts val="825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87962"/>
            <a:ext cx="12133193" cy="151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20"/>
              </a:lnSpc>
            </a:pPr>
            <a:r>
              <a:rPr lang="en-US" b="true" sz="8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to add post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7208" y="0"/>
            <a:ext cx="7590792" cy="3899770"/>
          </a:xfrm>
          <a:custGeom>
            <a:avLst/>
            <a:gdLst/>
            <a:ahLst/>
            <a:cxnLst/>
            <a:rect r="r" b="b" t="t" l="l"/>
            <a:pathLst>
              <a:path h="3899770" w="7590792">
                <a:moveTo>
                  <a:pt x="0" y="0"/>
                </a:moveTo>
                <a:lnTo>
                  <a:pt x="7590792" y="0"/>
                </a:lnTo>
                <a:lnTo>
                  <a:pt x="7590792" y="3899770"/>
                </a:lnTo>
                <a:lnTo>
                  <a:pt x="0" y="3899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95385" y="4374687"/>
            <a:ext cx="5292615" cy="5912313"/>
          </a:xfrm>
          <a:custGeom>
            <a:avLst/>
            <a:gdLst/>
            <a:ahLst/>
            <a:cxnLst/>
            <a:rect r="r" b="b" t="t" l="l"/>
            <a:pathLst>
              <a:path h="5912313" w="5292615">
                <a:moveTo>
                  <a:pt x="0" y="0"/>
                </a:moveTo>
                <a:lnTo>
                  <a:pt x="5292615" y="0"/>
                </a:lnTo>
                <a:lnTo>
                  <a:pt x="5292615" y="5912313"/>
                </a:lnTo>
                <a:lnTo>
                  <a:pt x="0" y="5912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95" r="0" b="-26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46529" y="285726"/>
            <a:ext cx="10491976" cy="198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b="true" sz="5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component of categories (services)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7478" y="4262389"/>
            <a:ext cx="9904498" cy="499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732" indent="-384366" lvl="1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old design: Sequential flow with plain text → slower, requires more effort, functional but poor user experience.</a:t>
            </a:r>
          </a:p>
          <a:p>
            <a:pPr algn="l">
              <a:lnSpc>
                <a:spcPts val="4984"/>
              </a:lnSpc>
            </a:pPr>
          </a:p>
          <a:p>
            <a:pPr algn="r" rtl="true" marL="768732" indent="-384366" lvl="1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 design</a:t>
            </a:r>
            <a:r>
              <a:rPr lang="en-US" sz="35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One-page layout with visual guidance → faster, clearer, and gives users more control with a</a:t>
            </a:r>
            <a:r>
              <a:rPr lang="en-US" sz="35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modern, clean design</a:t>
            </a:r>
            <a:r>
              <a:rPr lang="ar-EG" sz="35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true"/>
              </a:rPr>
              <a:t>.</a:t>
            </a:r>
          </a:p>
          <a:p>
            <a:pPr algn="r" rtl="true">
              <a:lnSpc>
                <a:spcPts val="498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00480" y="160996"/>
            <a:ext cx="5023024" cy="4740479"/>
          </a:xfrm>
          <a:custGeom>
            <a:avLst/>
            <a:gdLst/>
            <a:ahLst/>
            <a:cxnLst/>
            <a:rect r="r" b="b" t="t" l="l"/>
            <a:pathLst>
              <a:path h="4740479" w="5023024">
                <a:moveTo>
                  <a:pt x="0" y="0"/>
                </a:moveTo>
                <a:lnTo>
                  <a:pt x="5023024" y="0"/>
                </a:lnTo>
                <a:lnTo>
                  <a:pt x="5023024" y="4740479"/>
                </a:lnTo>
                <a:lnTo>
                  <a:pt x="0" y="474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28125" y="4973325"/>
            <a:ext cx="2567734" cy="5313675"/>
          </a:xfrm>
          <a:custGeom>
            <a:avLst/>
            <a:gdLst/>
            <a:ahLst/>
            <a:cxnLst/>
            <a:rect r="r" b="b" t="t" l="l"/>
            <a:pathLst>
              <a:path h="5313675" w="2567734">
                <a:moveTo>
                  <a:pt x="0" y="0"/>
                </a:moveTo>
                <a:lnTo>
                  <a:pt x="2567734" y="0"/>
                </a:lnTo>
                <a:lnTo>
                  <a:pt x="2567734" y="5313675"/>
                </a:lnTo>
                <a:lnTo>
                  <a:pt x="0" y="5313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8" r="0" b="-4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6563" y="427679"/>
            <a:ext cx="11519420" cy="10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b="true" sz="6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to select your position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8941" y="2193685"/>
            <a:ext cx="13100480" cy="773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494584" indent="-247292" lvl="1">
              <a:lnSpc>
                <a:spcPts val="3848"/>
              </a:lnSpc>
              <a:buFont typeface="Arial"/>
              <a:buChar char="•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Old design: "The Functional Approach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"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Interaction: Focuses on Manual Input. The user has to do the heavy lifting by searching, typing,</a:t>
            </a: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or navigating a complex map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Efficiency: It offers high precision but at the cost of speed and ease of use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Effort: High cognitive load; it feels like a "tool" rather than an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 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"</a:t>
            </a: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experience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."</a:t>
            </a:r>
          </a:p>
          <a:p>
            <a:pPr algn="l" rtl="true" marL="494584" indent="-247292" lvl="1">
              <a:lnSpc>
                <a:spcPts val="3848"/>
              </a:lnSpc>
              <a:buFont typeface="Arial"/>
              <a:buChar char="•"/>
            </a:pPr>
          </a:p>
          <a:p>
            <a:pPr algn="l" rtl="true" marL="494584" indent="-247292" lvl="1">
              <a:lnSpc>
                <a:spcPts val="3848"/>
              </a:lnSpc>
              <a:buFont typeface="Arial"/>
              <a:buChar char="•"/>
            </a:pPr>
          </a:p>
          <a:p>
            <a:pPr algn="l" rtl="true" marL="494584" indent="-247292" lvl="1">
              <a:lnSpc>
                <a:spcPts val="3848"/>
              </a:lnSpc>
              <a:buFont typeface="Arial"/>
              <a:buChar char="•"/>
            </a:pP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 </a:t>
            </a: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Modern Style: "The Intuitive Approach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"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Interaction: Focuses on Recognition. By using flags and a simple list, the interface reduces the mental effort required to make a choice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Usability: Highly optimized for Mobile (Touch). Large buttons and clear icons make it fast and error-free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</a:t>
            </a:r>
          </a:p>
          <a:p>
            <a:pPr algn="l" rtl="true" marL="989167" indent="-329722" lvl="2">
              <a:lnSpc>
                <a:spcPts val="3848"/>
              </a:lnSpc>
              <a:buFont typeface="Arial"/>
              <a:buChar char="⚬"/>
            </a:pPr>
            <a:r>
              <a:rPr lang="en-US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Effort: Low cognitive load; it prioritizes a "frictionless" experience where the user finds what they need instantly</a:t>
            </a:r>
            <a:r>
              <a:rPr lang="ar-EG" b="true" sz="22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rtl val="true"/>
              </a:rPr>
              <a:t>.</a:t>
            </a:r>
          </a:p>
          <a:p>
            <a:pPr algn="l" rtl="true">
              <a:lnSpc>
                <a:spcPts val="384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1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E1E5F9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Conclusion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1E5F9"/>
                  </a:solidFill>
                  <a:latin typeface="DM Sans"/>
                  <a:ea typeface="DM Sans"/>
                  <a:cs typeface="DM Sans"/>
                  <a:sym typeface="DM Sans"/>
                </a:rPr>
                <a:t>The analysis shows how the </a:t>
              </a:r>
              <a:r>
                <a:rPr lang="en-US" b="true" sz="2100">
                  <a:solidFill>
                    <a:srgbClr val="E1E5F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old design's focus on functionality</a:t>
              </a:r>
              <a:r>
                <a:rPr lang="en-US" sz="2100">
                  <a:solidFill>
                    <a:srgbClr val="E1E5F9"/>
                  </a:solidFill>
                  <a:latin typeface="DM Sans"/>
                  <a:ea typeface="DM Sans"/>
                  <a:cs typeface="DM Sans"/>
                  <a:sym typeface="DM Sans"/>
                </a:rPr>
                <a:t> led to usability issues, while the new design enhances user satisfaction through improved aesthetics and functionality.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41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7292" y="2047798"/>
            <a:ext cx="4689686" cy="7024635"/>
          </a:xfrm>
          <a:custGeom>
            <a:avLst/>
            <a:gdLst/>
            <a:ahLst/>
            <a:cxnLst/>
            <a:rect r="r" b="b" t="t" l="l"/>
            <a:pathLst>
              <a:path h="7024635" w="4689686">
                <a:moveTo>
                  <a:pt x="0" y="0"/>
                </a:moveTo>
                <a:lnTo>
                  <a:pt x="4689685" y="0"/>
                </a:lnTo>
                <a:lnTo>
                  <a:pt x="4689685" y="7024634"/>
                </a:lnTo>
                <a:lnTo>
                  <a:pt x="0" y="7024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65638" y="376238"/>
            <a:ext cx="8712994" cy="9534525"/>
            <a:chOff x="0" y="0"/>
            <a:chExt cx="812800" cy="8894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89437"/>
            </a:xfrm>
            <a:custGeom>
              <a:avLst/>
              <a:gdLst/>
              <a:ahLst/>
              <a:cxnLst/>
              <a:rect r="r" b="b" t="t" l="l"/>
              <a:pathLst>
                <a:path h="88943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89437"/>
                  </a:lnTo>
                  <a:lnTo>
                    <a:pt x="0" y="889437"/>
                  </a:lnTo>
                  <a:close/>
                </a:path>
              </a:pathLst>
            </a:custGeom>
            <a:blipFill>
              <a:blip r:embed="rId3"/>
              <a:stretch>
                <a:fillRect l="-32277" t="0" r="-3227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Craigslist Case Study</dc:description>
  <dc:identifier>DAG79E2sunQ</dc:identifier>
  <dcterms:modified xsi:type="dcterms:W3CDTF">2011-08-01T06:04:30Z</dcterms:modified>
  <cp:revision>1</cp:revision>
  <dc:title>Presentation - Craigslist Case Study</dc:title>
</cp:coreProperties>
</file>